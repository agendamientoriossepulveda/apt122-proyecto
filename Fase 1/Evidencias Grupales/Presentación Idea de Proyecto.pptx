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22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56818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94560"/>
            <a:ext cx="5669280" cy="5669280"/>
          </a:xfrm>
          <a:prstGeom prst="ellipse">
            <a:avLst/>
          </a:prstGeom>
          <a:ln w="19050">
            <a:solidFill>
              <a:srgbClr val="2B357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9692640" y="-1280160"/>
            <a:ext cx="3840480" cy="3840480"/>
          </a:xfrm>
          <a:prstGeom prst="ellipse">
            <a:avLst/>
          </a:prstGeom>
          <a:ln w="12700">
            <a:solidFill>
              <a:srgbClr val="2B357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 txBox="1"/>
          <p:nvPr/>
        </p:nvSpPr>
        <p:spPr>
          <a:xfrm>
            <a:off x="822960" y="1737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PROYECTO APT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4884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1 — Proyecto APT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033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88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3017520" y="368503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Reginaldo Salinas Bruna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1605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88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N°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017520" y="414223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6177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88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017520" y="459943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· Geanina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07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3840480"/>
            <a:ext cx="5120640" cy="5120640"/>
          </a:xfrm>
          <a:prstGeom prst="ellipse">
            <a:avLst/>
          </a:prstGeom>
          <a:ln w="19050">
            <a:solidFill>
              <a:srgbClr val="2B357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 txBox="1"/>
          <p:nvPr/>
        </p:nvSpPr>
        <p:spPr>
          <a:xfrm>
            <a:off x="7863840" y="731520"/>
            <a:ext cx="39319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2000" b="1" dirty="0">
                <a:solidFill>
                  <a:srgbClr val="2B35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880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01 / 07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24612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Descripción del Proyecto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07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4124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Descripción del Proyecto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65376"/>
            <a:ext cx="100584" cy="100584"/>
          </a:xfrm>
          <a:prstGeom prst="rect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 txBox="1"/>
          <p:nvPr/>
        </p:nvSpPr>
        <p:spPr>
          <a:xfrm>
            <a:off x="1143000" y="1673352"/>
            <a:ext cx="1014984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del proyecto: </a:t>
            </a: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 de definición.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822960" y="2432304"/>
            <a:ext cx="100584" cy="100584"/>
          </a:xfrm>
          <a:prstGeom prst="rect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 txBox="1"/>
          <p:nvPr/>
        </p:nvSpPr>
        <p:spPr>
          <a:xfrm>
            <a:off x="1143000" y="2240280"/>
            <a:ext cx="1014984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web SaaS de agendamiento y gestión para negocios de servicios de distintos rubros (belleza, salud y bienestar), expandible a futuro.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22960" y="2999232"/>
            <a:ext cx="100584" cy="100584"/>
          </a:xfrm>
          <a:prstGeom prst="rect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 txBox="1"/>
          <p:nvPr/>
        </p:nvSpPr>
        <p:spPr>
          <a:xfrm>
            <a:off x="1143000" y="2807208"/>
            <a:ext cx="1014984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multi-tenant con 4 roles </a:t>
            </a: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—Creador, Dueño, Trabajador y Cliente—</a:t>
            </a: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donde cada negocio opera aislado pero comparte un mismo motor de software configurable por rubro.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22960" y="3566160"/>
            <a:ext cx="100584" cy="100584"/>
          </a:xfrm>
          <a:prstGeom prst="rect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 txBox="1"/>
          <p:nvPr/>
        </p:nvSpPr>
        <p:spPr>
          <a:xfrm>
            <a:off x="1143000" y="3374136"/>
            <a:ext cx="1014984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Incluye agendamiento con validación de disponibilidad, gestión de equipo, dashboard financiero con KPIs, notificaciones automáticas y perfil de cliente con historial completo.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22960" y="4133088"/>
            <a:ext cx="100584" cy="100584"/>
          </a:xfrm>
          <a:prstGeom prst="rect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 txBox="1"/>
          <p:nvPr/>
        </p:nvSpPr>
        <p:spPr>
          <a:xfrm>
            <a:off x="1143000" y="3941064"/>
            <a:ext cx="1014984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</a:t>
            </a: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</a:t>
            </a: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toda la plataforma —incluido el dashboard del Dueño— ya que la mayoría de los usuarios accede desde un dispositivo móvil.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822960" y="4700016"/>
            <a:ext cx="100584" cy="100584"/>
          </a:xfrm>
          <a:prstGeom prst="rect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 txBox="1"/>
          <p:nvPr/>
        </p:nvSpPr>
        <p:spPr>
          <a:xfrm>
            <a:off x="1143000" y="4507992"/>
            <a:ext cx="1014984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piloto: </a:t>
            </a: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áreas y 4 rubros — Barbería/Peluquería y Nail Salon (Belleza); Nutricionista y Personal Trainer (Salud).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07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3840480"/>
            <a:ext cx="5120640" cy="5120640"/>
          </a:xfrm>
          <a:prstGeom prst="ellipse">
            <a:avLst/>
          </a:prstGeom>
          <a:ln w="19050">
            <a:solidFill>
              <a:srgbClr val="2B357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 txBox="1"/>
          <p:nvPr/>
        </p:nvSpPr>
        <p:spPr>
          <a:xfrm>
            <a:off x="7863840" y="731520"/>
            <a:ext cx="39319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2000" b="1" dirty="0">
                <a:solidFill>
                  <a:srgbClr val="2B35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880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02 / 07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24612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Relación con el Perfil de Egreso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07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4124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Relación con el Perfil de Egreso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65376"/>
            <a:ext cx="100584" cy="100584"/>
          </a:xfrm>
          <a:prstGeom prst="rect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 txBox="1"/>
          <p:nvPr/>
        </p:nvSpPr>
        <p:spPr>
          <a:xfrm>
            <a:off x="1143000" y="1673352"/>
            <a:ext cx="1014984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Competencia 1: </a:t>
            </a: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y generar soluciones de software innovadoras y de calidad, aplicando su ciclo de vida completo y las mejores prácticas de la industria.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2432304"/>
            <a:ext cx="100584" cy="100584"/>
          </a:xfrm>
          <a:prstGeom prst="rect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 txBox="1"/>
          <p:nvPr/>
        </p:nvSpPr>
        <p:spPr>
          <a:xfrm>
            <a:off x="1143000" y="2240280"/>
            <a:ext cx="1014984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Competencia 2: </a:t>
            </a: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y generar soluciones que resuelvan requerimientos de información considerando bases de datos relacionales y no relacionales.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2999232"/>
            <a:ext cx="100584" cy="100584"/>
          </a:xfrm>
          <a:prstGeom prst="rect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 txBox="1"/>
          <p:nvPr/>
        </p:nvSpPr>
        <p:spPr>
          <a:xfrm>
            <a:off x="1143000" y="2807208"/>
            <a:ext cx="1014984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Competencia 3: </a:t>
            </a: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y gestionar el proyecto durante todo su ciclo de vida, aplicando metodologías ágiles y buenas prácticas.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3566160"/>
            <a:ext cx="100584" cy="100584"/>
          </a:xfrm>
          <a:prstGeom prst="rect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 txBox="1"/>
          <p:nvPr/>
        </p:nvSpPr>
        <p:spPr>
          <a:xfrm>
            <a:off x="1143000" y="3374136"/>
            <a:ext cx="1014984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Competencia 4: </a:t>
            </a: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soluciones de software con foco en calidad, seguridad y sostenibilidad del proyecto.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4133088"/>
            <a:ext cx="100584" cy="100584"/>
          </a:xfrm>
          <a:prstGeom prst="rect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 txBox="1"/>
          <p:nvPr/>
        </p:nvSpPr>
        <p:spPr>
          <a:xfrm>
            <a:off x="1143000" y="3941064"/>
            <a:ext cx="1014984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Competencia 5: </a:t>
            </a: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el proyecto para plataformas y dispositivos móviles, mediante marcos de trabajo y buenas prácticas de la industria.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" y="4700016"/>
            <a:ext cx="100584" cy="100584"/>
          </a:xfrm>
          <a:prstGeom prst="rect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 txBox="1"/>
          <p:nvPr/>
        </p:nvSpPr>
        <p:spPr>
          <a:xfrm>
            <a:off x="1143000" y="4507992"/>
            <a:ext cx="1014984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integrada: </a:t>
            </a: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datos multi-rubro, arquitectura con Row Level Security, metodología Scrum y diseño mobile-first en toda la plataforma.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07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3840480"/>
            <a:ext cx="5120640" cy="5120640"/>
          </a:xfrm>
          <a:prstGeom prst="ellipse">
            <a:avLst/>
          </a:prstGeom>
          <a:ln w="19050">
            <a:solidFill>
              <a:srgbClr val="2B357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 txBox="1"/>
          <p:nvPr/>
        </p:nvSpPr>
        <p:spPr>
          <a:xfrm>
            <a:off x="7863840" y="731520"/>
            <a:ext cx="39319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2000" b="1" dirty="0">
                <a:solidFill>
                  <a:srgbClr val="2B35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880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03 / 07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24612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Factibilidad del Proyecto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07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4124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Factibilidad del Proyecto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65376"/>
            <a:ext cx="100584" cy="100584"/>
          </a:xfrm>
          <a:prstGeom prst="rect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 txBox="1"/>
          <p:nvPr/>
        </p:nvSpPr>
        <p:spPr>
          <a:xfrm>
            <a:off x="1143000" y="1673352"/>
            <a:ext cx="101498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 del desarrollo: </a:t>
            </a: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semanas destinadas al desarrollo (Fase 2), suficientes para un MVP funcional dado el alcance acotado definido.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822960" y="2734056"/>
            <a:ext cx="100584" cy="100584"/>
          </a:xfrm>
          <a:prstGeom prst="rect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 txBox="1"/>
          <p:nvPr/>
        </p:nvSpPr>
        <p:spPr>
          <a:xfrm>
            <a:off x="1143000" y="2542032"/>
            <a:ext cx="101498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Materiales requeridos: </a:t>
            </a: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infraestructura física; solo equipos propios y servicios en la nube (Supabase, AWS Amplify) con planes gratuitos o de bajo costo.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22960" y="3602736"/>
            <a:ext cx="100584" cy="100584"/>
          </a:xfrm>
          <a:prstGeom prst="rect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 txBox="1"/>
          <p:nvPr/>
        </p:nvSpPr>
        <p:spPr>
          <a:xfrm>
            <a:off x="1143000" y="3410712"/>
            <a:ext cx="101498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Factores que facilitan: </a:t>
            </a: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experiencia previa del equipo con el stack tecnológico elegido, lo que reduce la curva de aprendizaje.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22960" y="4471416"/>
            <a:ext cx="100584" cy="100584"/>
          </a:xfrm>
          <a:prstGeom prst="rect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 txBox="1"/>
          <p:nvPr/>
        </p:nvSpPr>
        <p:spPr>
          <a:xfrm>
            <a:off x="1143000" y="4279392"/>
            <a:ext cx="101498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Factores que dificultan y mitigación: </a:t>
            </a: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ausencia de cliente real (mitigado con datos semilla), complejidad del módulo Personal Trainer (mitigado priorizándolo temprano), y el esfuerzo extra del diseño mobile-first (mitigado adoptándolo desde el inicio de cada componente).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07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3840480"/>
            <a:ext cx="5120640" cy="5120640"/>
          </a:xfrm>
          <a:prstGeom prst="ellipse">
            <a:avLst/>
          </a:prstGeom>
          <a:ln w="19050">
            <a:solidFill>
              <a:srgbClr val="2B357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 txBox="1"/>
          <p:nvPr/>
        </p:nvSpPr>
        <p:spPr>
          <a:xfrm>
            <a:off x="7863840" y="731520"/>
            <a:ext cx="39319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2000" b="1" dirty="0">
                <a:solidFill>
                  <a:srgbClr val="2B35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880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04 / 07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24612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del Proyecto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07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4124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del Proyecto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65376"/>
            <a:ext cx="100584" cy="100584"/>
          </a:xfrm>
          <a:prstGeom prst="rect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 txBox="1"/>
          <p:nvPr/>
        </p:nvSpPr>
        <p:spPr>
          <a:xfrm>
            <a:off x="1143000" y="1673352"/>
            <a:ext cx="101498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general: </a:t>
            </a: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una plataforma de agendamiento y gestión multi-rubro que permita a dueños de negocios administrar su operación diaria desde un solo lugar, reduciendo el tiempo y el estrés de organizar el negocio manualmente.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822960" y="2734056"/>
            <a:ext cx="100584" cy="100584"/>
          </a:xfrm>
          <a:prstGeom prst="rect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 txBox="1"/>
          <p:nvPr/>
        </p:nvSpPr>
        <p:spPr>
          <a:xfrm>
            <a:off x="1143000" y="2542032"/>
            <a:ext cx="101498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Optimizar tiempo: </a:t>
            </a: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reducir en al menos un 50% el tiempo dedicado a tareas administrativas mediante automatización.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22960" y="3602736"/>
            <a:ext cx="100584" cy="100584"/>
          </a:xfrm>
          <a:prstGeom prst="rect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 txBox="1"/>
          <p:nvPr/>
        </p:nvSpPr>
        <p:spPr>
          <a:xfrm>
            <a:off x="1143000" y="3410712"/>
            <a:ext cx="101498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Aumentar producción: </a:t>
            </a: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aumentar en un 100% la capacidad de atención del negocio, eliminando errores de doble reserva.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22960" y="4471416"/>
            <a:ext cx="100584" cy="100584"/>
          </a:xfrm>
          <a:prstGeom prst="rect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 txBox="1"/>
          <p:nvPr/>
        </p:nvSpPr>
        <p:spPr>
          <a:xfrm>
            <a:off x="1143000" y="4279392"/>
            <a:ext cx="101498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gastar de más: </a:t>
            </a: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entregar visibilidad financiera con KPIs claros para mejores decisiones de gasto.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07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3840480"/>
            <a:ext cx="5120640" cy="5120640"/>
          </a:xfrm>
          <a:prstGeom prst="ellipse">
            <a:avLst/>
          </a:prstGeom>
          <a:ln w="19050">
            <a:solidFill>
              <a:srgbClr val="2B357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 txBox="1"/>
          <p:nvPr/>
        </p:nvSpPr>
        <p:spPr>
          <a:xfrm>
            <a:off x="7863840" y="731520"/>
            <a:ext cx="39319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2000" b="1" dirty="0">
                <a:solidFill>
                  <a:srgbClr val="2B35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880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05 / 07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24612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Metodología de Trabajo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07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4124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Metodología de Trabajo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65376"/>
            <a:ext cx="100584" cy="100584"/>
          </a:xfrm>
          <a:prstGeom prst="rect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 txBox="1"/>
          <p:nvPr/>
        </p:nvSpPr>
        <p:spPr>
          <a:xfrm>
            <a:off x="1143000" y="1673352"/>
            <a:ext cx="1014984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Gestión: </a:t>
            </a: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adaptado a un equipo de 2 personas, con sprints de 1-2 semanas (6-8 sprints en 11 semanas de desarrollo) y holgura reservada para pruebas y correcciones.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2432304"/>
            <a:ext cx="100584" cy="100584"/>
          </a:xfrm>
          <a:prstGeom prst="rect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 txBox="1"/>
          <p:nvPr/>
        </p:nvSpPr>
        <p:spPr>
          <a:xfrm>
            <a:off x="1143000" y="2240280"/>
            <a:ext cx="1014984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Líder / Scrum Master — David: </a:t>
            </a: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 avance, backlog y agenda de sprints.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2999232"/>
            <a:ext cx="100584" cy="100584"/>
          </a:xfrm>
          <a:prstGeom prst="rect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 txBox="1"/>
          <p:nvPr/>
        </p:nvSpPr>
        <p:spPr>
          <a:xfrm>
            <a:off x="1143000" y="2807208"/>
            <a:ext cx="1014984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Detective (investigación) — David y Geanina: </a:t>
            </a: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investigación técnica y validación con negocios reales.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3566160"/>
            <a:ext cx="100584" cy="100584"/>
          </a:xfrm>
          <a:prstGeom prst="rect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 txBox="1"/>
          <p:nvPr/>
        </p:nvSpPr>
        <p:spPr>
          <a:xfrm>
            <a:off x="1143000" y="3374136"/>
            <a:ext cx="1014984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Periodista (documentación) — Geanina: </a:t>
            </a: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redacción de informes, actas y mapas mentales.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4133088"/>
            <a:ext cx="100584" cy="100584"/>
          </a:xfrm>
          <a:prstGeom prst="rect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 txBox="1"/>
          <p:nvPr/>
        </p:nvSpPr>
        <p:spPr>
          <a:xfrm>
            <a:off x="1143000" y="3941064"/>
            <a:ext cx="1014984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tecnológico: </a:t>
            </a: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Next.js, TypeScript, Supabase/PostgreSQL, Zod, Vitest y AWS Amplify — mismo stack validado en proyectos previos del equipo.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07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3840480"/>
            <a:ext cx="5120640" cy="5120640"/>
          </a:xfrm>
          <a:prstGeom prst="ellipse">
            <a:avLst/>
          </a:prstGeom>
          <a:ln w="19050">
            <a:solidFill>
              <a:srgbClr val="2B357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 txBox="1"/>
          <p:nvPr/>
        </p:nvSpPr>
        <p:spPr>
          <a:xfrm>
            <a:off x="7863840" y="731520"/>
            <a:ext cx="39319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2000" b="1" dirty="0">
                <a:solidFill>
                  <a:srgbClr val="2B35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2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880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06 / 07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24612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Trabajo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07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4124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Trabajo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682496"/>
            <a:ext cx="100584" cy="100584"/>
          </a:xfrm>
          <a:prstGeom prst="rect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 txBox="1"/>
          <p:nvPr/>
        </p:nvSpPr>
        <p:spPr>
          <a:xfrm>
            <a:off x="1143000" y="1490472"/>
            <a:ext cx="1014984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la Base de Datos — David y Geanina (1 semana)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22960" y="2084832"/>
            <a:ext cx="100584" cy="100584"/>
          </a:xfrm>
          <a:prstGeom prst="rect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 txBox="1"/>
          <p:nvPr/>
        </p:nvSpPr>
        <p:spPr>
          <a:xfrm>
            <a:off x="1143000" y="1892808"/>
            <a:ext cx="1014984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arquitectura multi-tenant — David (1 semana)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2487168"/>
            <a:ext cx="100584" cy="100584"/>
          </a:xfrm>
          <a:prstGeom prst="rect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 txBox="1"/>
          <p:nvPr/>
        </p:nvSpPr>
        <p:spPr>
          <a:xfrm>
            <a:off x="1143000" y="2295144"/>
            <a:ext cx="1014984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del sistema de diseño mobile-first — David y Geanina (1 semana, en paralelo)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2889504"/>
            <a:ext cx="100584" cy="100584"/>
          </a:xfrm>
          <a:prstGeom prst="rect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 txBox="1"/>
          <p:nvPr/>
        </p:nvSpPr>
        <p:spPr>
          <a:xfrm>
            <a:off x="1143000" y="2697480"/>
            <a:ext cx="1014984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de autenticación y roles — David (2 semanas)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3291840"/>
            <a:ext cx="100584" cy="100584"/>
          </a:xfrm>
          <a:prstGeom prst="rect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 txBox="1"/>
          <p:nvPr/>
        </p:nvSpPr>
        <p:spPr>
          <a:xfrm>
            <a:off x="1143000" y="3099816"/>
            <a:ext cx="1014984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de agenda y validación de disponibilidad — David y Geanina (2 semanas)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" y="3694176"/>
            <a:ext cx="100584" cy="100584"/>
          </a:xfrm>
          <a:prstGeom prst="rect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 txBox="1"/>
          <p:nvPr/>
        </p:nvSpPr>
        <p:spPr>
          <a:xfrm>
            <a:off x="1143000" y="3502152"/>
            <a:ext cx="1014984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del módulo Personal Trainer (rutinas) — Geanina (2 semanas)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4096512"/>
            <a:ext cx="100584" cy="100584"/>
          </a:xfrm>
          <a:prstGeom prst="rect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 txBox="1"/>
          <p:nvPr/>
        </p:nvSpPr>
        <p:spPr>
          <a:xfrm>
            <a:off x="1143000" y="3904488"/>
            <a:ext cx="1014984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de dashboard financiero — David (1 semana)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22960" y="4498848"/>
            <a:ext cx="100584" cy="100584"/>
          </a:xfrm>
          <a:prstGeom prst="rect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9" name="Text 17"/>
          <p:cNvSpPr txBox="1"/>
          <p:nvPr/>
        </p:nvSpPr>
        <p:spPr>
          <a:xfrm>
            <a:off x="1143000" y="4306824"/>
            <a:ext cx="1014984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de seguridad y aislamiento de datos — David y Geanina (1 semana)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22960" y="4901184"/>
            <a:ext cx="100584" cy="100584"/>
          </a:xfrm>
          <a:prstGeom prst="rect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 txBox="1"/>
          <p:nvPr/>
        </p:nvSpPr>
        <p:spPr>
          <a:xfrm>
            <a:off x="1143000" y="4709160"/>
            <a:ext cx="1014984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e informes de avance/final — Geanina (transversal)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22960" y="5303520"/>
            <a:ext cx="100584" cy="100584"/>
          </a:xfrm>
          <a:prstGeom prst="rect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3" name="Text 21"/>
          <p:cNvSpPr txBox="1"/>
          <p:nvPr/>
        </p:nvSpPr>
        <p:spPr>
          <a:xfrm>
            <a:off x="1143000" y="5111496"/>
            <a:ext cx="1014984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 y ensayo de presentación final — David y Geanina (1 semana)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07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" y="573328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707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Carta Gantt detallada (semana a semana) disponible como anexo.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3840480"/>
            <a:ext cx="5120640" cy="5120640"/>
          </a:xfrm>
          <a:prstGeom prst="ellipse">
            <a:avLst/>
          </a:prstGeom>
          <a:ln w="19050">
            <a:solidFill>
              <a:srgbClr val="2B357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 txBox="1"/>
          <p:nvPr/>
        </p:nvSpPr>
        <p:spPr>
          <a:xfrm>
            <a:off x="7863840" y="731520"/>
            <a:ext cx="39319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2000" b="1" dirty="0">
                <a:solidFill>
                  <a:srgbClr val="2B35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2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880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07 / 07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24612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Evidencias Esperadas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07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4124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Evidencias Esperadas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65376"/>
            <a:ext cx="100584" cy="100584"/>
          </a:xfrm>
          <a:prstGeom prst="rect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 txBox="1"/>
          <p:nvPr/>
        </p:nvSpPr>
        <p:spPr>
          <a:xfrm>
            <a:off x="1143000" y="1673352"/>
            <a:ext cx="101498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de definición de requerimientos (Fase 1): </a:t>
            </a: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mismo documento —problema, objetivos, alcance, roles y modelo de datos definidos.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822960" y="2734056"/>
            <a:ext cx="100584" cy="100584"/>
          </a:xfrm>
          <a:prstGeom prst="rect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 txBox="1"/>
          <p:nvPr/>
        </p:nvSpPr>
        <p:spPr>
          <a:xfrm>
            <a:off x="1143000" y="2542032"/>
            <a:ext cx="101498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de especificación técnica: </a:t>
            </a: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multi-tenant, modelo de datos, stack tecnológico y criterios de diseño mobile-first.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22960" y="3602736"/>
            <a:ext cx="100584" cy="100584"/>
          </a:xfrm>
          <a:prstGeom prst="rect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 txBox="1"/>
          <p:nvPr/>
        </p:nvSpPr>
        <p:spPr>
          <a:xfrm>
            <a:off x="1143000" y="3410712"/>
            <a:ext cx="101498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de avance de Fase 2: </a:t>
            </a: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del desarrollo a mitad de camino, con ajustes al plan original.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07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377440"/>
            <a:ext cx="5669280" cy="5669280"/>
          </a:xfrm>
          <a:prstGeom prst="ellipse">
            <a:avLst/>
          </a:prstGeom>
          <a:ln w="19050">
            <a:solidFill>
              <a:srgbClr val="2B357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 txBox="1"/>
          <p:nvPr/>
        </p:nvSpPr>
        <p:spPr>
          <a:xfrm>
            <a:off x="822960" y="2651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017520"/>
            <a:ext cx="9144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Preguntas</a:t>
            </a:r>
            <a:endParaRPr lang="en-US" sz="5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251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E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· Geanina — Grupo 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07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960</Words>
  <Application>Microsoft Office PowerPoint</Application>
  <PresentationFormat>Panorámica</PresentationFormat>
  <Paragraphs>117</Paragraphs>
  <Slides>16</Slides>
  <Notes>16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Geanina Ríos Saldias</cp:lastModifiedBy>
  <cp:revision>1</cp:revision>
  <dcterms:created xsi:type="dcterms:W3CDTF">2026-08-30T19:03:16Z</dcterms:created>
  <dcterms:modified xsi:type="dcterms:W3CDTF">2026-10-18T20:57:52Z</dcterms:modified>
</cp:coreProperties>
</file>